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Tahoma"/>
              </a:defRPr>
            </a:pPr>
            <a:r>
              <a:rPr lang="en-US" sz="1200" b="0" i="0" u="none" strike="noStrike">
                <a:solidFill>
                  <a:srgbClr val="1E1B4B"/>
                </a:solidFill>
                <a:latin typeface="Tahoma"/>
              </a:rPr>
              <a:t>score </a:t>
            </a:r>
            <a:r>
              <a:rPr lang="th-TH" sz="1200" b="0" i="0" u="none" strike="noStrike">
                <a:solidFill>
                  <a:srgbClr val="1E1B4B"/>
                </a:solidFill>
                <a:latin typeface="Tahoma"/>
              </a:rPr>
              <a:t>ของ </a:t>
            </a:r>
            <a:r>
              <a:rPr lang="en-US" sz="1200" b="0" i="0" u="none" strike="noStrike">
                <a:solidFill>
                  <a:srgbClr val="1E1B4B"/>
                </a:solidFill>
                <a:latin typeface="Tahoma"/>
              </a:rPr>
              <a:t>Ben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1B4B"/>
                    </a:solidFill>
                    <a:latin typeface="Arial"/>
                  </a:defRPr>
                </a:pPr>
                <a:endParaRPr lang="th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Foam</c:v>
                </c:pt>
                <c:pt idx="1">
                  <c:v>Hybrid</c:v>
                </c:pt>
                <c:pt idx="2">
                  <c:v>Latex</c:v>
                </c:pt>
                <c:pt idx="3">
                  <c:v>Pillow Top</c:v>
                </c:pt>
                <c:pt idx="4">
                  <c:v>Pocket Spring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DC-4A00-9129-4C1806711A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t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312E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1B4B"/>
                    </a:solidFill>
                    <a:latin typeface="Arial"/>
                  </a:defRPr>
                </a:pPr>
                <a:endParaRPr lang="th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Spring</c:v>
                </c:pt>
                <c:pt idx="1">
                  <c:v>Memory Foam</c:v>
                </c:pt>
                <c:pt idx="2">
                  <c:v>Foam</c:v>
                </c:pt>
                <c:pt idx="3">
                  <c:v>Latex</c:v>
                </c:pt>
                <c:pt idx="4">
                  <c:v>Pocket Spring</c:v>
                </c:pt>
                <c:pt idx="5">
                  <c:v>Hybrid</c:v>
                </c:pt>
                <c:pt idx="6">
                  <c:v>Air</c:v>
                </c:pt>
                <c:pt idx="7">
                  <c:v>Waterbed</c:v>
                </c:pt>
                <c:pt idx="8">
                  <c:v>Pillow Top</c:v>
                </c:pt>
                <c:pt idx="9">
                  <c:v>Orthopedic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7C-45F8-885E-8F541A57E9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t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3688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สวัสดีครับ วันนี้จะนำเสนอระบบแนะนำประเภทที่นอนด้วย Graph Database โดยใช้ Neo4j Aura เก็บข้อมูล ใช้ Cypher ในการแนะนำ และทำหน้าเว็บด้วย Streamlit ซึ่งจะเปิดเว็บจริงให้ดูประกอบระหว่างนำเสนอ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ปัญหาคือที่นอนมีหลายประเภท แต่ละแบบเหมาะกับคนต่างกัน คนทั่วไปเลือกไม่ถูก แนวคิดของระบบคือใช้พฤติกรรมของคนที่ชอบคล้ายกันมาช่วยแนะนำ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ขั้นตอนมี 4 ขั้น เริ่มจากผู้ใช้ เดินไปที่นอนที่เขาชอบ ย้อนไปหาคนอื่นที่ชอบเหมือนกัน แล้วเดินต่อไปที่นอนอื่นที่คนเหล่านั้นชอบ จุดเด่นของ Graph Database คือเดินตามความสัมพันธ์แบบนี้ได้ง่ายและเร็ว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โมเดลกราฟเรียบง่าย มี Node User กับ MattressType เชื่อมด้วย PREFERS ผมเพิ่ม property ให้ MattressType เช่น ชื่อไทย ความแน่น และรูปภาพ ข้อมูลตัวอย่างมีผู้ใช้ 10 คน ที่นอน 10 ประเภท และความชอบ 21 เส้น มี constraint กันชื่อซ้ำทั้งสอง label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 Cypher หลักของระบบ MATCH เดินตามเส้นทางสามช่วง WHERE NOT EXISTS ตัดของที่ผู้ใช้เลือกแล้ว count(*) คือจำนวนเส้นทาง ใช้เป็นคะแนน และ collect เก็บชื่อคนที่ทำให้เกิดคำแนะนำ ซึ่งเว็บจะใช้แสดงเหตุผล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ดูตัวอย่าง Ben ชอบ Spring กับ Memory Foam คนที่ชอบเหมือนกันมี 5 คน แต่ Jeff ชอบเหมือน Ben ถึงสองอย่าง จึงมีสองเส้นทางไปที่ Foam Mattress คะแนนเลยเป็น 2 สูงกว่าตัวอื่น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[สลับไปเปิดเว็บ หน้า แนะนำที่นอน เลือก Ben] บนเว็บแต่ละคำแนะนำจะแสดงรูปที่นอน อันดับ คะแนน และเหตุผล เช่น เพราะคุณชอบ Memory Foam และ Spring เหมือนกับ Jeff และกดปุ่มหัวใจเพื่อเพิ่มเป็นที่นอนที่ชอบได้ทันที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กราฟนี้ได้จากการนับจำนวน PREFERS ของแต่ละประเภท หน้าแรกของเว็บก็แสดงกราฟเดียวกัน และใช้ข้อมูลนี้เป็น fallback เมื่อผู้ใช้ใหม่ยังไม่มีความชอบ เรียกว่าปัญหา cold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ผู้ใช้เปิดเว็บที่โฮสต์บน Streamlit Community Cloud แอปเชื่อมต่อ Neo4j Aura ผ่านโปรโตคอล neo4j+s ที่เข้ารหัส โค้ดอยู่บน GitHub เมื่อ push แอปจะ deploy ใหม่อัตโนมัติ ส่วนรหัสผ่านเก็บใน Streamlit Secrets ไม่อยู่ในโค้ด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[สลับไปเว็บ ไล่เมนูซ้ายมือ] เว็บมีหกเมนู ตั้งแต่หน้าหลัก หน้าแนะนำ จัดการที่นอน จัดการผู้ใช้ Graph Explorer และหน้า Setup สำหรับสร้างข้อมูลตัวอย่าง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[สลับไปเว็บ หน้า จัดการที่นอน → แท็บเพิ่ม] ลองเพิ่มที่นอนใหม่ เช่น Bamboo Mattress แล้วแก้ไข และลบ ให้ดูว่าข้อมูลเปลี่ยนใน Neo4j จริง การลบใช้ DETACH DELETE เพื่อลบเส้น PREFERS ที่เกี่ยวข้องไปด้วย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รูปแต่ละแบบเป็นภาพตัดขวางให้เห็นชั้นภายใน เช่น สปริง ยางพารา ถุงน้ำ ส่วนรูปที่ผู้ใช้อัปโหลด เราย่อแล้วเก็บไว้ใน Neo4j โดยตรง เพราะ Streamlit Cloud ไม่เก็บไฟล์ที่เขียนลงดิสก์ถาวร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[สลับไปเว็บทั้งหมด] 1 หน้าหลัก 2 เลือก Ben ในหน้าแนะนำ 3 กดหัวใจที่ Foam แล้วชี้ว่า Foam ย้ายไปอยู่ในรายการที่ชอบ และคำแนะนำอื่นเปลี่ยน 4 เพิ่มที่นอนใหม่พร้อมรูป แก้ไข แล้วลบ 5 เปิด Graph Explorer เลือกเส้นทางของ Ben  หมายเหตุ: ถ้า Aura Free ถูก pause ให้ Resume ใน console ก่อนนำเสนอ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ขอบคุณครับ มีคำถามเพิ่มเติมไหมครับ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4.png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4.png"/><Relationship Id="rId3" Type="http://schemas.openxmlformats.org/officeDocument/2006/relationships/image" Target="../media/image25.png"/><Relationship Id="rId7" Type="http://schemas.openxmlformats.org/officeDocument/2006/relationships/image" Target="../media/image1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9.png"/><Relationship Id="rId5" Type="http://schemas.openxmlformats.org/officeDocument/2006/relationships/image" Target="../media/image27.png"/><Relationship Id="rId15" Type="http://schemas.openxmlformats.org/officeDocument/2006/relationships/image" Target="../media/image31.png"/><Relationship Id="rId10" Type="http://schemas.openxmlformats.org/officeDocument/2006/relationships/image" Target="../media/image28.png"/><Relationship Id="rId4" Type="http://schemas.openxmlformats.org/officeDocument/2006/relationships/image" Target="../media/image26.png"/><Relationship Id="rId9" Type="http://schemas.openxmlformats.org/officeDocument/2006/relationships/image" Target="../media/image2.png"/><Relationship Id="rId1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Database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Mattress Type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Recommender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E7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ระบบแนะนำประเภทที่นอนด้วย Graph Database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 Aura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3429000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 txBox="1"/>
          <p:nvPr/>
        </p:nvSpPr>
        <p:spPr>
          <a:xfrm>
            <a:off x="1783080" y="342900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Cypher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70048" y="3429000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" name="Text 8"/>
          <p:cNvSpPr txBox="1"/>
          <p:nvPr/>
        </p:nvSpPr>
        <p:spPr>
          <a:xfrm>
            <a:off x="2670048" y="342900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Python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57016" y="3429000"/>
            <a:ext cx="1010412" cy="329184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 txBox="1"/>
          <p:nvPr/>
        </p:nvSpPr>
        <p:spPr>
          <a:xfrm>
            <a:off x="3557016" y="3429000"/>
            <a:ext cx="10104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91440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pic>
        <p:nvPicPr>
          <p:cNvPr id="14" name="Image 0" descr="/home/claude/MattressGraph/images/pocket_sp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987552"/>
            <a:ext cx="1499616" cy="131673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178040" y="91440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pic>
        <p:nvPicPr>
          <p:cNvPr id="16" name="Image 1" descr="/home/claude/MattressGraph/images/lat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987552"/>
            <a:ext cx="1499616" cy="131673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394960" y="256032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pic>
        <p:nvPicPr>
          <p:cNvPr id="18" name="Image 2" descr="/home/claude/MattressGraph/images/memory_fo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2633472"/>
            <a:ext cx="1499616" cy="131673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178040" y="256032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pic>
        <p:nvPicPr>
          <p:cNvPr id="20" name="Image 3" descr="/home/claude/MattressGraph/images/waterb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192" y="2633472"/>
            <a:ext cx="1499616" cy="13167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ที่มาและปัญหา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ทำไมการเลือกที่นอนถึงยาก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71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ที่นอนมีหลายประเภท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7190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สปริง พ็อกเก็ตสปริง เมมโมรี่โฟม ยางพารา ไฮบริด ที่นอนน้ำ ฯลฯ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51460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6517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468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ข้อมูลเยอะ แต่ตัดสินใจไม่ได้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8163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แต่ละแบบมีความแน่น วัสดุ และกลุ่มผู้ใช้ที่เหมาะต่างกัน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61188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490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66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คนมักเชื่อคนที่ชอบคล้ายกัน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9136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ถ้าคนที่ชอบแบบเดียวกับเราชอบอะไรอีก ก็น่าจะเหมาะกับเราด้วย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937760" y="1325880"/>
            <a:ext cx="17830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pic>
        <p:nvPicPr>
          <p:cNvPr id="17" name="Image 3" descr="/home/claude/MattressGraph/images/spr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1380744"/>
            <a:ext cx="1673352" cy="100584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858000" y="1325880"/>
            <a:ext cx="17830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pic>
        <p:nvPicPr>
          <p:cNvPr id="19" name="Image 4" descr="/home/claude/MattressGraph/images/pocket_spr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2864" y="1380744"/>
            <a:ext cx="1673352" cy="100584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937760" y="2560320"/>
            <a:ext cx="17830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pic>
        <p:nvPicPr>
          <p:cNvPr id="21" name="Image 5" descr="/home/claude/MattressGraph/images/memory_fo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2624" y="2615184"/>
            <a:ext cx="1673352" cy="100584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858000" y="2560320"/>
            <a:ext cx="17830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pic>
        <p:nvPicPr>
          <p:cNvPr id="23" name="Image 6" descr="/home/claude/MattressGraph/images/late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2864" y="2615184"/>
            <a:ext cx="1673352" cy="100584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4937760" y="3794760"/>
            <a:ext cx="17830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pic>
        <p:nvPicPr>
          <p:cNvPr id="25" name="Image 7" descr="/home/claude/MattressGraph/images/hybri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2624" y="3849624"/>
            <a:ext cx="1673352" cy="100584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6858000" y="3794760"/>
            <a:ext cx="17830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pic>
        <p:nvPicPr>
          <p:cNvPr id="27" name="Image 8" descr="/home/claude/MattressGraph/images/waterb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2864" y="3849624"/>
            <a:ext cx="1673352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แนวคิด: “คนที่ชอบเหมือนคุณ ชอบอะไรอีก?”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Collaborative Filtering บนกราฟ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" name="Shape 3"/>
          <p:cNvSpPr/>
          <p:nvPr/>
        </p:nvSpPr>
        <p:spPr>
          <a:xfrm>
            <a:off x="640080" y="1801368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 txBox="1"/>
          <p:nvPr/>
        </p:nvSpPr>
        <p:spPr>
          <a:xfrm>
            <a:off x="64008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ดูว่าผู้ใช้ชอบอะไร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Ben ชอบ Spring และ Memory Foam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237744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87752" y="160020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 9"/>
          <p:cNvSpPr/>
          <p:nvPr/>
        </p:nvSpPr>
        <p:spPr>
          <a:xfrm>
            <a:off x="2770632" y="1801368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 txBox="1"/>
          <p:nvPr/>
        </p:nvSpPr>
        <p:spPr>
          <a:xfrm>
            <a:off x="277063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23774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หาคนที่ชอบเหมือนกัน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70632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Jeff, Mike, Liam, Daniel, Alice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398264" y="237744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18304" y="160020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 15"/>
          <p:cNvSpPr/>
          <p:nvPr/>
        </p:nvSpPr>
        <p:spPr>
          <a:xfrm>
            <a:off x="4901184" y="1801368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 txBox="1"/>
          <p:nvPr/>
        </p:nvSpPr>
        <p:spPr>
          <a:xfrm>
            <a:off x="4901184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01184" y="23774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ดูว่าคนเหล่านั้นชอบอะไรอีก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901184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Foam, Latex, Hybrid, ...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28816" y="237744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➜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48856" y="160020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3" name="Shape 21"/>
          <p:cNvSpPr/>
          <p:nvPr/>
        </p:nvSpPr>
        <p:spPr>
          <a:xfrm>
            <a:off x="7031736" y="180136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4" name="Text 22"/>
          <p:cNvSpPr txBox="1"/>
          <p:nvPr/>
        </p:nvSpPr>
        <p:spPr>
          <a:xfrm>
            <a:off x="7031736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031736" y="23774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แนะนำที่ Ben ยังไม่เลือก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31736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เรียงตามคะแนน (score)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กราฟเก็บ “ความสัมพันธ์” ไว้โดยตรง จึงเดินตามเส้นทางนี้ได้ด้วย query เดียว ไม่ต้อง JOIN หลายตาราง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การออกแบบ Graph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Node 2 ประเภท และ Relationship 1 ประเภท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371600" cy="1371600"/>
          </a:xfrm>
          <a:prstGeom prst="ellipse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965960" y="2240280"/>
            <a:ext cx="1371600" cy="0"/>
          </a:xfrm>
          <a:prstGeom prst="line">
            <a:avLst/>
          </a:prstGeom>
          <a:noFill/>
          <a:ln w="3175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 txBox="1"/>
          <p:nvPr/>
        </p:nvSpPr>
        <p:spPr>
          <a:xfrm>
            <a:off x="1965960" y="1874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1371600" cy="13716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 txBox="1"/>
          <p:nvPr/>
        </p:nvSpPr>
        <p:spPr>
          <a:xfrm>
            <a:off x="3383280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4E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Mattress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34E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Type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154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(unique)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154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MattressType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(unique), name_th,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description, firmness,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best_for, image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132588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 txBox="1"/>
          <p:nvPr/>
        </p:nvSpPr>
        <p:spPr>
          <a:xfrm>
            <a:off x="6035040" y="13258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13258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2350008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 txBox="1"/>
          <p:nvPr/>
        </p:nvSpPr>
        <p:spPr>
          <a:xfrm>
            <a:off x="6035040" y="2350008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35000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MattressType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3374136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 txBox="1"/>
          <p:nvPr/>
        </p:nvSpPr>
        <p:spPr>
          <a:xfrm>
            <a:off x="6035040" y="3374136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74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3374136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PREFERS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ข้อมูลตัวอย่างจาก notebook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Cypher สำหรับแนะนำ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 3 hop แล้วนับจำนวนเส้นทาง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120640" cy="2880360"/>
          </a:xfrm>
          <a:prstGeom prst="roundRect">
            <a:avLst>
              <a:gd name="adj" fmla="val 3175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4754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4C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</a:t>
            </a:r>
            <a:r>
              <a:rPr lang="en-US" sz="14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(me:User {name:$user})
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-[:PREFERS]-&gt;(shared:MattressType)
  &lt;-[:PREFERS]-(other:User)
  -[:PREFERS]-&gt;(m:MattressType)
</a:t>
            </a:r>
            <a:r>
              <a:rPr lang="en-US" sz="1400" dirty="0">
                <a:solidFill>
                  <a:srgbClr val="B4C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NOT EXISTS 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MATCH (me)-[:PREFERS]-&gt;(m) }
</a:t>
            </a:r>
            <a:r>
              <a:rPr lang="en-US" sz="1400" dirty="0">
                <a:solidFill>
                  <a:srgbClr val="B4C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m.name,
</a:t>
            </a: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score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  collect(DISTINCT other.name)
</a:t>
            </a:r>
            <a:r>
              <a:rPr lang="en-US" sz="1400" dirty="0">
                <a:solidFill>
                  <a:srgbClr val="B4C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DESC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3716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บรรทัด 1–4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6642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เดินจาก me → ที่นอนที่ชอบ ← คนอื่น → ที่นอนอื่น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21945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NOT EXISTS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24871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ตัดที่นอนที่ me ชอบอยู่แล้วออก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30175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count(*)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3310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score = จำนวนเส้นทางที่พาไปถึงที่นอนนั้น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38404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collect(...)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41330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เก็บชื่อคนที่แนะนำ เพื่ออธิบายเหตุผลบนเว็บ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ตัวอย่าง: แนะนำให้ Ben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 Foam Mattress ได้คะแนนสูงสุด?</a:t>
            </a:r>
            <a:endParaRPr lang="en-US" sz="1300" dirty="0"/>
          </a:p>
        </p:txBody>
      </p:sp>
      <p:pic>
        <p:nvPicPr>
          <p:cNvPr id="4" name="Image 0" descr="/home/claude/demo/ben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760720" cy="25481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280160"/>
            <a:ext cx="2194560" cy="2560320"/>
          </a:xfrm>
          <a:prstGeom prst="roundRect">
            <a:avLst>
              <a:gd name="adj" fmla="val 5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Text 3"/>
          <p:cNvSpPr txBox="1"/>
          <p:nvPr/>
        </p:nvSpPr>
        <p:spPr>
          <a:xfrm>
            <a:off x="6675120" y="1371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เส้นทางไปถึง Foam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60604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Jeff ชอบเหมือน Ben ถึง 2 ประเภท (Spring + Memory Foam) จึงมี 2 เส้นทางมาที่ Foam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 Latex, Hybrid, Pillow Top, Pocket Spring ได้ score = 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ผลลัพธ์บนเว็บ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คะแนนแนะนำของ Ben พร้อมเหตุผลและรูปที่นอน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280160"/>
          <a:ext cx="31089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657600" y="1234440"/>
            <a:ext cx="502920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pic>
        <p:nvPicPr>
          <p:cNvPr id="6" name="Image 0" descr="/home/claude/demo/crop_r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1307592"/>
            <a:ext cx="4882896" cy="32552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ความนิยมของแต่ละประเภท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จำนวนผู้ใช้ที่ PREFERS แต่ละประเภทที่นอน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23444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32588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 3"/>
          <p:cNvSpPr/>
          <p:nvPr/>
        </p:nvSpPr>
        <p:spPr>
          <a:xfrm>
            <a:off x="6263640" y="1554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370" y="168021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636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สิ่งที่เห็น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263640" y="26060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Spring และ Memory Foam นิยมที่สุด (4 คน)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ผู้ใช้ที่ไม่มีข้อมูลความชอบ (cold start) ระบบจะแนะนำตามลำดับนี้แทน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สถาปัตยกรรมระบบ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จากโค้ดบน GitHub สู่เว็บที่ใช้งานได้จริง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502920" cy="5029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1753362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276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2677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เปิดผ่าน Browser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41732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 7"/>
          <p:cNvSpPr/>
          <p:nvPr/>
        </p:nvSpPr>
        <p:spPr>
          <a:xfrm>
            <a:off x="3584448" y="1627632"/>
            <a:ext cx="502920" cy="5029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178" y="175336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06240" y="16276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Streamlit Cloud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584448" y="22677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app.py + neo4j_service.py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41732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 11"/>
          <p:cNvSpPr/>
          <p:nvPr/>
        </p:nvSpPr>
        <p:spPr>
          <a:xfrm>
            <a:off x="6510528" y="1627632"/>
            <a:ext cx="502920" cy="5029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6258" y="1753362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32320" y="16276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 Aura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510528" y="22677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Database บน Cloud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889504" y="2103120"/>
            <a:ext cx="43891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20" name="Text 15"/>
          <p:cNvSpPr txBox="1"/>
          <p:nvPr/>
        </p:nvSpPr>
        <p:spPr>
          <a:xfrm>
            <a:off x="2743200" y="17830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815584" y="2103120"/>
            <a:ext cx="438912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22" name="Text 17"/>
          <p:cNvSpPr txBox="1"/>
          <p:nvPr/>
        </p:nvSpPr>
        <p:spPr>
          <a:xfrm>
            <a:off x="5669280" y="17830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Cypher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383280" y="342900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4" name="Shape 19"/>
          <p:cNvSpPr/>
          <p:nvPr/>
        </p:nvSpPr>
        <p:spPr>
          <a:xfrm>
            <a:off x="3584448" y="3721608"/>
            <a:ext cx="502920" cy="502920"/>
          </a:xfrm>
          <a:prstGeom prst="ellipse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178" y="3847338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206240" y="3520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C7D2F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push แล้ว deploy อัตโนมัติ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572000" y="2834640"/>
            <a:ext cx="0" cy="548640"/>
          </a:xfrm>
          <a:prstGeom prst="line">
            <a:avLst/>
          </a:prstGeom>
          <a:noFill/>
          <a:ln w="25400">
            <a:solidFill>
              <a:srgbClr val="312E81"/>
            </a:solidFill>
            <a:prstDash val="solid"/>
            <a:headEnd type="triangle"/>
          </a:ln>
        </p:spPr>
        <p:txBody>
          <a:bodyPr/>
          <a:lstStyle/>
          <a:p>
            <a:endParaRPr lang="th-TH"/>
          </a:p>
        </p:txBody>
      </p:sp>
      <p:sp>
        <p:nvSpPr>
          <p:cNvPr id="28" name="Shape 22"/>
          <p:cNvSpPr/>
          <p:nvPr/>
        </p:nvSpPr>
        <p:spPr>
          <a:xfrm>
            <a:off x="6309360" y="342900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79476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086600" y="34747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Streamlit Secrets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 uri / username / password แยกจากโค้ด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ฟีเจอร์บนเว็บ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เมนูหลักของ Mattress Type Recommender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62306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สถิติ กราฟความนิยม แกลเลอรีที่นอนพร้อมค้นหา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 7"/>
          <p:cNvSpPr/>
          <p:nvPr/>
        </p:nvSpPr>
        <p:spPr>
          <a:xfrm>
            <a:off x="3429000" y="15087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162306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แนะนำที่นอน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คำแนะนำ + score + เหตุผล กดหัวใจเพื่อเพิ่มความชอบ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 11"/>
          <p:cNvSpPr/>
          <p:nvPr/>
        </p:nvSpPr>
        <p:spPr>
          <a:xfrm>
            <a:off x="6217920" y="150876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16230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1228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จัดการที่นอน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ดูรายการ เพิ่ม แก้ไข ลบ พร้อมเลือกรูป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0" name="Shape 15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31470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3444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จัดการผู้ใช้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แก้ชื่อ เลือกที่นอนที่ชอบ ลบผู้ใช้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46120" y="301752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5" name="Shape 19"/>
          <p:cNvSpPr/>
          <p:nvPr/>
        </p:nvSpPr>
        <p:spPr>
          <a:xfrm>
            <a:off x="3429000" y="320040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3300" y="331470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2336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Explorer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342900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วาดกราฟทั้งหมด หรือเฉพาะเส้นทางของผู้ใช้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35040" y="301752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 23"/>
          <p:cNvSpPr/>
          <p:nvPr/>
        </p:nvSpPr>
        <p:spPr>
          <a:xfrm>
            <a:off x="6217920" y="320040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2220" y="331470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1228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Setup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constraint + ข้อมูลตัวอย่าง, รีเซ็ตข้อมูล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/ แก้ไข / ลบ ข้อมูล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ทุกปุ่มบนเว็บแปลงเป็นคำสั่ง Cypher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572000" cy="263347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การทำงาน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Cypher หลัก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1B4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เพิ่มที่นอน / ผู้ใช้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74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(m:MattressType {...})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1B4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แก้ไขข้อมูล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74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MATCH ... SET m.name = $name, ...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1B4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ลบ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74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MATCH ... DETACH DELETE m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1B4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เพิ่มความชอบ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74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MERGE (u)-[:PREFERS]-&gt;(m)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1B4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ยกเลิกความชอบ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74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MATCH (u)-[r:PREFERS]-&gt;(m) DELETE 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กันชื่อซ้ำด้วย UNIQUE constraint และต้องติ๊กยืนยันก่อนลบ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349240" y="1234440"/>
            <a:ext cx="3337560" cy="2761361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pic>
        <p:nvPicPr>
          <p:cNvPr id="7" name="Image 0" descr="/home/claude/demo/crop_man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307592"/>
            <a:ext cx="3191256" cy="26150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รูปภาพที่นอน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เลือกรูปได้ 3 แบบ ตอนเพิ่มหรือแก้ไขที่นอน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14516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รูปในระบบ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019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ภาพตัดขวาง 10 ประเภท ในโฟลเดอร์ images/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325880"/>
            <a:ext cx="502920" cy="5029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850" y="145161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88620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อัปโหลดเอง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246120" y="19019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ย่อรูปแล้วเก็บใน Neo4j เป็น data URI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1325880"/>
            <a:ext cx="502920" cy="5029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770" y="145161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7512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ลิงก์ URL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6035040" y="19019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ใช้รูปจากเว็บไซต์อื่นได้</a:t>
            </a:r>
            <a:endParaRPr lang="en-US" sz="1100" dirty="0"/>
          </a:p>
        </p:txBody>
      </p:sp>
      <p:pic>
        <p:nvPicPr>
          <p:cNvPr id="16" name="Image 3" descr="/home/claude/MattressGraph/images/spr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606040"/>
            <a:ext cx="1536192" cy="100812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57200" y="363016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Spring</a:t>
            </a:r>
            <a:endParaRPr lang="en-US" sz="900" dirty="0"/>
          </a:p>
        </p:txBody>
      </p:sp>
      <p:pic>
        <p:nvPicPr>
          <p:cNvPr id="18" name="Image 4" descr="/home/claude/MattressGraph/images/pocket_spr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1408" y="2606040"/>
            <a:ext cx="1536192" cy="100812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121408" y="363016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Pocket Spring</a:t>
            </a:r>
            <a:endParaRPr lang="en-US" sz="900" dirty="0"/>
          </a:p>
        </p:txBody>
      </p:sp>
      <p:pic>
        <p:nvPicPr>
          <p:cNvPr id="20" name="Image 5" descr="/home/claude/MattressGraph/images/memory_fo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5616" y="2606040"/>
            <a:ext cx="1536192" cy="100812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785616" y="363016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Memory Foam</a:t>
            </a:r>
            <a:endParaRPr lang="en-US" sz="900" dirty="0"/>
          </a:p>
        </p:txBody>
      </p:sp>
      <p:pic>
        <p:nvPicPr>
          <p:cNvPr id="22" name="Image 6" descr="/home/claude/MattressGraph/images/late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9824" y="2606040"/>
            <a:ext cx="1536192" cy="1008126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449824" y="363016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Latex</a:t>
            </a:r>
            <a:endParaRPr lang="en-US" sz="900" dirty="0"/>
          </a:p>
        </p:txBody>
      </p:sp>
      <p:pic>
        <p:nvPicPr>
          <p:cNvPr id="24" name="Image 7" descr="/home/claude/MattressGraph/images/foa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4032" y="2606040"/>
            <a:ext cx="1536192" cy="1008126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7114032" y="363016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Foam</a:t>
            </a:r>
            <a:endParaRPr lang="en-US" sz="900" dirty="0"/>
          </a:p>
        </p:txBody>
      </p:sp>
      <p:pic>
        <p:nvPicPr>
          <p:cNvPr id="26" name="Image 8" descr="/home/claude/MattressGraph/images/hybri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794760"/>
            <a:ext cx="1536192" cy="1008126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457200" y="481888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Hybrid</a:t>
            </a:r>
            <a:endParaRPr lang="en-US" sz="900" dirty="0"/>
          </a:p>
        </p:txBody>
      </p:sp>
      <p:pic>
        <p:nvPicPr>
          <p:cNvPr id="28" name="Image 9" descr="/home/claude/MattressGraph/images/ai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21408" y="3794760"/>
            <a:ext cx="1536192" cy="1008126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2121408" y="481888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Air</a:t>
            </a:r>
            <a:endParaRPr lang="en-US" sz="900" dirty="0"/>
          </a:p>
        </p:txBody>
      </p:sp>
      <p:pic>
        <p:nvPicPr>
          <p:cNvPr id="30" name="Image 10" descr="/home/claude/MattressGraph/images/waterb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85616" y="3794760"/>
            <a:ext cx="1536192" cy="1008126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3785616" y="481888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Waterbed</a:t>
            </a:r>
            <a:endParaRPr lang="en-US" sz="900" dirty="0"/>
          </a:p>
        </p:txBody>
      </p:sp>
      <p:pic>
        <p:nvPicPr>
          <p:cNvPr id="32" name="Image 11" descr="/home/claude/MattressGraph/images/pillow_to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49824" y="3794760"/>
            <a:ext cx="1536192" cy="1008126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449824" y="481888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Pillow Top</a:t>
            </a:r>
            <a:endParaRPr lang="en-US" sz="900" dirty="0"/>
          </a:p>
        </p:txBody>
      </p:sp>
      <p:pic>
        <p:nvPicPr>
          <p:cNvPr id="34" name="Image 12" descr="/home/claude/MattressGraph/images/orthopedi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14032" y="3794760"/>
            <a:ext cx="1536192" cy="1008126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7114032" y="481888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Orthopedic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ลำดับการสาธิตบนเว็บ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38912" cy="43891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258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13258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ดูสถิติ กราฟความนิยม และค้นหาที่นอน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438912" cy="43891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 txBox="1"/>
          <p:nvPr/>
        </p:nvSpPr>
        <p:spPr>
          <a:xfrm>
            <a:off x="457200" y="1984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98424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แนะนำที่นอน → Ben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19842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อธิบายว่าทำไม Foam ได้ score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42616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 txBox="1"/>
          <p:nvPr/>
        </p:nvSpPr>
        <p:spPr>
          <a:xfrm>
            <a:off x="457200" y="2642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64261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กดหัวใจที่ Foam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26426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คำแนะนำเปลี่ยนทันทีเพราะกราฟเปลี่ยน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00984"/>
            <a:ext cx="438912" cy="43891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 txBox="1"/>
          <p:nvPr/>
        </p:nvSpPr>
        <p:spPr>
          <a:xfrm>
            <a:off x="457200" y="3300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3009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เพิ่มที่นอนใหม่ + รูป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33009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แล้วลองแก้ไขและลบ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59352"/>
            <a:ext cx="438912" cy="43891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 txBox="1"/>
          <p:nvPr/>
        </p:nvSpPr>
        <p:spPr>
          <a:xfrm>
            <a:off x="457200" y="3959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9593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Explorer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39593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ดูเส้นทางแนะนำของ Ben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1280160"/>
            <a:ext cx="3108960" cy="208026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pic>
        <p:nvPicPr>
          <p:cNvPr id="25" name="Image 0" descr="/home/claude/demo/crop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353312"/>
            <a:ext cx="2962656" cy="1933956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577840" y="361188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7" name="Shape 24"/>
          <p:cNvSpPr/>
          <p:nvPr/>
        </p:nvSpPr>
        <p:spPr>
          <a:xfrm>
            <a:off x="5760720" y="377647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3895344"/>
            <a:ext cx="237744" cy="237744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6355080" y="3611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เปิดเว็บที่ deploy บน Streamlit Cloud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5735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7175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(User)-[:PREFERS]-&gt;(MattressType)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0" y="6858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pic>
        <p:nvPicPr>
          <p:cNvPr id="6" name="Image 0" descr="/home/claude/MattressGraph/images/hyb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740664"/>
            <a:ext cx="1719072" cy="10789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201168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pic>
        <p:nvPicPr>
          <p:cNvPr id="8" name="Image 1" descr="/home/claude/MattressGraph/images/pillow_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2066544"/>
            <a:ext cx="1719072" cy="10789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852160" y="333756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pic>
        <p:nvPicPr>
          <p:cNvPr id="10" name="Image 2" descr="/home/claude/MattressGraph/images/orthoped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24" y="3392424"/>
            <a:ext cx="1719072" cy="10789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1415</Words>
  <Application>Microsoft Office PowerPoint</Application>
  <PresentationFormat>On-screen Show (16:9)</PresentationFormat>
  <Paragraphs>187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Courier New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Mattress Type Recommender</dc:title>
  <dc:subject>PptxGenJS Presentation</dc:subject>
  <dc:creator>PptxGenJS</dc:creator>
  <cp:lastModifiedBy>RKS3 7</cp:lastModifiedBy>
  <cp:revision>2</cp:revision>
  <dcterms:created xsi:type="dcterms:W3CDTF">2026-10-01T16:44:29Z</dcterms:created>
  <dcterms:modified xsi:type="dcterms:W3CDTF">2026-10-01T17:11:29Z</dcterms:modified>
</cp:coreProperties>
</file>